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371600"/>
            <a:ext cx="3962095" cy="3962095"/>
          </a:xfrm>
          <a:prstGeom prst="ellipse">
            <a:avLst/>
          </a:prstGeom>
          <a:solidFill>
            <a:srgbClr val="321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34747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РАЗРАБОТКА ВЕБ-ПРИЛОЖЕНИЯ</a:t>
            </a:r>
            <a:br/>
            <a:r>
              <a:t>СЕРВИСА АРЕНДЫ АВТОМОБИЛЕЙ</a:t>
            </a:r>
          </a:p>
          <a:p>
            <a:pPr algn="ctr">
              <a:spcAft>
                <a:spcPts val="1500"/>
              </a:spcAft>
              <a:defRPr sz="1400">
                <a:solidFill>
                  <a:srgbClr val="D8B4FE"/>
                </a:solidFill>
                <a:latin typeface="Segoe UI"/>
              </a:defRPr>
            </a:pPr>
            <a:r>
              <a:t>Курсовая работа • Направление 02.03.02 ФИИТ</a:t>
            </a:r>
          </a:p>
          <a:p>
            <a:pPr algn="ctr">
              <a:defRPr sz="1200">
                <a:solidFill>
                  <a:srgbClr val="A0A0B0"/>
                </a:solidFill>
                <a:latin typeface="Segoe UI"/>
              </a:defRPr>
            </a:pPr>
            <a:r>
              <a:t>Выполнил: студент гр. ФИТ-221 Кононенко Е. С.   |   Научный руководитель: д.т.н. Степанов Ю. 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АКТУАЛЬНОСТЬ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Цель и 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8B4FE"/>
                </a:solidFill>
                <a:latin typeface="Segoe UI"/>
              </a:defRPr>
            </a:pPr>
            <a:r>
              <a:t>Главная цель проекта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Проектирование и разработка современного, масштабируемого веб-приложения для автоматизации бизнес-процессов сервиса проката автопарка с жесткими правилами транзакционного контроля бронирования.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D8B4FE"/>
                </a:solidFill>
                <a:latin typeface="Segoe UI"/>
              </a:defRPr>
            </a:pPr>
            <a:r>
              <a:t>Практическая значимость: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Исключение человеческого фактора при распределении машин.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Прозрачный расчет стоимости по гибким тарифам.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Оперативный контроль технического состояния автопарка.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Защита от double-booking (двойного бронирования).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425135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59375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Проектирование архитектуры и СУБД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Разработка ER-схемы данных в 3NF, настройка ограничений целостности.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5425135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355848"/>
            <a:ext cx="5059375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Реализация надежного REST API бэкенда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Бизнес-логика на Kotlin + Spring Boot с защитой от race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700016"/>
            <a:ext cx="5425135" cy="13716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882896"/>
            <a:ext cx="5059375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Разработка клиентского SPA интерфейса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Удобное реактивное веб-приложение на Vue 3 + Pinia + TypeScript.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БИЗНЕС-ЛОГИКА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Предметная область и бизнес-правила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47288" cy="30175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81528" cy="2651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Учет активов (Car)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Уникальная идентификация: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VIN-код автомобиля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Гос. регистрационный знак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Класс комфорта (Эконом, Бизнес, Люкс)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Статус доступности (активен, ТО, выведен)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645920"/>
            <a:ext cx="3447288" cy="30175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828800"/>
            <a:ext cx="3081528" cy="2651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Конфликты дат (Overlaps)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Принцип бесконфликтности: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Запрет двойного бронирования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Пересечение интервалов дат проверяется на сервере в рамках транзакции базы данных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Входящий запрос с наложением отклоняется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645920"/>
            <a:ext cx="3447288" cy="30175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828800"/>
            <a:ext cx="3081528" cy="2651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Окна обслуживания (Maintenance)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Технический контроль: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Планирование ТО менеджером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Запись блокирует авто на период работ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Окно обслуживания равносильно активной аренде при проверке занятости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8B4FE"/>
                </a:solidFill>
                <a:latin typeface="Segoe UI"/>
              </a:defRPr>
            </a:pPr>
            <a:r>
              <a:t>Гибкий алгоритм динамического расчета цены (Dynamic Pricing)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Итоговая цена аренды = Базовая ставка за бронирование + Посуточная ставка тарифа * (Количество суток аренды).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Тарифы жестко привязаны к классам машин. При оформлении заказа рассчитывается полная сумма с учетом возраста/стажа.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РОЛИ ПОЛЬЗОВАТЕЛЕЙ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Ролевая модель и прецеденты использования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Роль Клиента (CLIENT)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Авторизация в ЛК и заполнение профиля (Паспорт, ВУ).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Поиск свободных машин по датам (автофильтрация).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Оформление бронирования с автоматическим расчетом цены.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Просмотр истории своих заказов и отслеживание статуса.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D8B4FE"/>
                </a:solidFill>
                <a:latin typeface="Segoe UI"/>
              </a:defRPr>
            </a:pPr>
            <a:r>
              <a:t>Схема вариантов использования для Клиента:</a:t>
            </a:r>
          </a:p>
        </p:txBody>
      </p:sp>
      <p:pic>
        <p:nvPicPr>
          <p:cNvPr id="7" name="Picture 6" descr="Диаграмма вариантов использования для клиент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0480"/>
            <a:ext cx="43891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645920"/>
            <a:ext cx="5425135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059375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Роль Менеджера автопарка (FLEET_MANAGER)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Управление автопарком (добавление/изменение Car).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Настройка и гибкое изменение ценовых тарифов (Tariff).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Планирование окон техобслуживания машин (Maintenance).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Жизненный цикл аренды: выдача авто (ISSUED) и возврат (COMPLETED).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D8B4FE"/>
                </a:solidFill>
                <a:latin typeface="Segoe UI"/>
              </a:defRPr>
            </a:pPr>
            <a:r>
              <a:t>Схема вариантов использования для Менеджера:</a:t>
            </a:r>
          </a:p>
        </p:txBody>
      </p:sp>
      <p:pic>
        <p:nvPicPr>
          <p:cNvPr id="10" name="Picture 9" descr="Диаграмма вариантов использования для менеджер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46634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АРХИТЕКТУРА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Проектирование реляционной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8B4FE"/>
                </a:solidFill>
                <a:latin typeface="Segoe UI"/>
              </a:defRPr>
            </a:pPr>
            <a:r>
              <a:t>Схема данных в 3NF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База данных полностью нормализована до 3NF для устранения аномалий обновления.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Ключевые таблицы: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Car: Данные авто и VIN-код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Tariff: Расчет стоимости аренды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ClientProfile: Профиль и ВУ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RentalOrder: Связующий заказ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MaintenanceWindow: Окна ТО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RentalStatusHistory: История статусов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Ссылочная целостность: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Обеспечена каскадными операциями и внешними ключами в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30975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-модель базы данных сервиса аренд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2880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ИНФРАСТРУКТУРА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Архитектура развертывания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Трехзвенная архитектура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1. Уровень представления (SPA):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Адаптивный фронтенд в браузере клиента.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2. Уровень бизнес-логики (REST API):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Высокопроизводительное серверное приложение с модулями защиты и управления транзакциями.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3. Уровень хранения данных (DB):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Отказоустойчивая СУБД с транзакциями ACID.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8B4FE"/>
                </a:solidFill>
                <a:latin typeface="Segoe UI"/>
              </a:defRPr>
            </a:pPr>
            <a:r>
              <a:t>Проксирование и Статика: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Nginx выступает в роли Reverse Proxy, балансирует трафик и отдает статику фронтенда.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30975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Архитектура развертывания веб-прилож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585216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DEVELOPMENT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 разработки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47288" cy="2103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594360" cy="594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8B4FE"/>
                </a:solidFill>
                <a:latin typeface="Segoe UI"/>
              </a:defRPr>
            </a:pPr>
            <a:r>
              <a:t>Kotlin 1.9 / JVM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Серверный язык с компиляторным null-safety и лаконичным кодом.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45920"/>
            <a:ext cx="3447288" cy="2103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6008" y="1920240"/>
            <a:ext cx="59436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1828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8B4FE"/>
                </a:solidFill>
                <a:latin typeface="Segoe UI"/>
              </a:defRPr>
            </a:pPr>
            <a:r>
              <a:t>Spring Boot 3.2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ORM (Hibernate/JPA), Spring Security, валидация DTO, REST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645920"/>
            <a:ext cx="3447288" cy="210312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66176" y="1920240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1828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8B4FE"/>
                </a:solidFill>
                <a:latin typeface="Segoe UI"/>
              </a:defRPr>
            </a:pPr>
            <a:r>
              <a:t>PostgreSQL 16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Реляционная СУБД с жесткими блокировками строк при бронировании дат.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47288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206240"/>
            <a:ext cx="594360" cy="5943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Vue 3 (Composition API)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Реактивный SPA-клиент. Быстрый рендеринг, компонентный подход.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931920"/>
            <a:ext cx="3447288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36008" y="4206240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4114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TypeScript / Vite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Статическая типизация на фронтенде и мгновенная сборка статики.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931920"/>
            <a:ext cx="3447288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66176" y="4206240"/>
            <a:ext cx="59436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09728" bIns="109728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4114800"/>
            <a:ext cx="2258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Docker &amp; Compose</a:t>
            </a:r>
          </a:p>
          <a:p>
            <a:pPr>
              <a:defRPr sz="1100">
                <a:solidFill>
                  <a:srgbClr val="A0A0B0"/>
                </a:solidFill>
                <a:latin typeface="Segoe UI"/>
              </a:defRPr>
            </a:pPr>
            <a:r>
              <a:t>Полная контейнеризация всех компонентов для мгновенного запуска.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API И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REST API Спецификация и User-Flow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Ключевые Эндпоинты API</a:t>
            </a:r>
          </a:p>
          <a:p>
            <a:pPr>
              <a:spcAft>
                <a:spcPts val="400"/>
              </a:spcAft>
              <a:defRPr sz="1100" b="1">
                <a:solidFill>
                  <a:srgbClr val="D8B4FE"/>
                </a:solidFill>
                <a:latin typeface="Segoe UI"/>
              </a:defRPr>
            </a:pPr>
            <a:r>
              <a:t>Поиск доступных машин: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GET /cars/available?from=X&amp;to=Y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Возвращает список свободных машин с рассчитанной стоимостью аренды.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8B4FE"/>
                </a:solidFill>
                <a:latin typeface="Segoe UI"/>
              </a:defRPr>
            </a:pPr>
            <a:r>
              <a:t>Оформление заказа: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POST /rentals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Параметры: car_id, dates, user_profile.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8B4FE"/>
                </a:solidFill>
                <a:latin typeface="Segoe UI"/>
              </a:defRPr>
            </a:pPr>
            <a:r>
              <a:t>Жизненный цикл (Менеджер):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PATCH /rentals/{id}/issue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PATCH /rentals/{id}/complete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8B4FE"/>
                </a:solidFill>
                <a:latin typeface="Segoe UI"/>
              </a:defRPr>
            </a:pPr>
            <a:r>
              <a:t>Документирование:</a:t>
            </a:r>
          </a:p>
          <a:p>
            <a:pPr>
              <a:spcAft>
                <a:spcPts val="800"/>
              </a:spcAft>
              <a:defRPr sz="1100">
                <a:solidFill>
                  <a:srgbClr val="A0A0B0"/>
                </a:solidFill>
                <a:latin typeface="Segoe UI"/>
              </a:defRPr>
            </a:pPr>
            <a:r>
              <a:t>Интегрирован OpenAPI/Swagger.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30975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Диаграмма последовательности оформления аренд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СЛОЖНАЯ БИЗНЕС-ЛОГИКА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Киллер-фича: Транзакционный контроль конфликтов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Проблема: Double-Booking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В высоконагруженных системах два пользователя могут ОДНОВРЕМЕННО нажать кнопку «Забронировать» на один автомобиль на одни и те же даты.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Классическая проверка «сначала проверь в коде, потом вставь» приводит к состоянию гонки (Race Condition).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Последствия: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Один автомобиль выдается двум разным клиентам, финансовые и репутационные потери.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6430975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6065215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8B4FE"/>
                </a:solidFill>
                <a:latin typeface="Segoe UI"/>
              </a:defRPr>
            </a:pPr>
            <a:r>
              <a:t>Решение: Двухэтапная атомарная проверка с блокировкой</a:t>
            </a: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1. Декларативная транзакция Spring (@Transactional):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Изоляция транзакций обеспечивает целостность проверки в рамках одного подключения к БД.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2. Высокопроизводительный SQL-запрос проверки наложений: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Запрос проверяет пересечения запрашиваемого интервала с существующими заказами: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   (start_date &lt;= :requested_end) AND (end_date &gt;= :requested_start)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И одновременно проверяет пересечения с окнами обслуживания: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   (m_start &lt;= :requested_end) AND (m_end &gt;= :requested_start)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3. Пессимистическая блокировка (Pessimistic Write Lock):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Используется блокировка строки выбранного автомобиля в СУБД PostgreSQL. Второй конкурентный поток переходит в ожидание до завершения первой транзакции. Race Condition полностью устранен!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4. Расчет цены: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Выполняется строго после валидации дат, гарантируя корректное применение тарифа.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Обеспечение безопасности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47288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81528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D8B4FE"/>
                </a:solidFill>
                <a:latin typeface="Segoe UI"/>
              </a:defRPr>
            </a:pPr>
            <a:r>
              <a:t>Аутентификация &amp; Авторизация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Использование Spring Security.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Безсессионный доступ Stateless REST.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Генерация криптографически подписанных JWT-токенов доступа.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Ролевое разграничение (CLIENT / FLEET_MANAGER) на уровне эндпоинтов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645920"/>
            <a:ext cx="3447288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828800"/>
            <a:ext cx="3081528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Безопасность хранения данных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Одностороннее хэширование паролей пользователей с использованием соли перед сохранением в PostgreSQL.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Многоуровневая валидация входящих параметров (DTO Validation).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Защита от SQL-инъекций за счет использования Hibernate и параметризованных запросов.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645920"/>
            <a:ext cx="3447288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1828800"/>
            <a:ext cx="3081528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Аудит &amp; Логирование жизненного цикла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Любой переход заказа между статусами фиксируется в отдельной таблице RentalStatusHistory.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Логируется точное время изменения статуса и ID инициатора.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Полная прозрачность аудита при возникновении споров с клиентами.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8B4FE"/>
                </a:solidFill>
                <a:latin typeface="Segoe UI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Итоги и результаты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1E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8B4FE"/>
                </a:solidFill>
                <a:latin typeface="Segoe UI"/>
              </a:defRPr>
            </a:pPr>
            <a:r>
              <a:t>Основные результаты проекта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1. Спроектирована и нормализована до 3NF база данных сервиса аренды авто.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2. Реализована бизнес-логика защиты от двойного бронирования и наложений на интервалы технического осмотра автотранспорта.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3. Разработано адаптивное веб-приложение (SPA клиент + REST бэкенд).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4. Обеспечена безопасность данных (JWT, Spring Security, хэширование паролей).</a:t>
            </a: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5. Проведена полная контейнеризация через Docker и Docker Compose для легкого деплоя.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425135" cy="44805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59375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Направления дальнейшего развития</a:t>
            </a: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Интеграция платежных шлюзов: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Автоматическое проведение транзакций оплаты проката при бронировании с заморозкой залога (холдирование средств).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Интеллектуальный дашборд аналитики менеджера: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Визуализация загрузки автопарка по сезонам, расчет доходности каждого автомобиля и оптимизация тарифов.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Модуль автоуведомлений клиентов: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Интеграция Telegram-ботов или SMS-шлюзов для напоминания о скором начале или завершении аренды.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D8B4FE"/>
                </a:solidFill>
                <a:latin typeface="Segoe UI"/>
              </a:defRPr>
            </a:pPr>
            <a:r>
              <a:t>Мобильное приложение водителя:</a:t>
            </a:r>
          </a:p>
          <a:p>
            <a:pPr>
              <a:spcAft>
                <a:spcPts val="800"/>
              </a:spcAft>
              <a:defRPr sz="1200">
                <a:solidFill>
                  <a:srgbClr val="A0A0B0"/>
                </a:solidFill>
                <a:latin typeface="Segoe UI"/>
              </a:defRPr>
            </a:pPr>
            <a:r>
              <a:t>Перенос клиентского опыта в нативное мобильное приложение для удобного поиска свободных машин на карте.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